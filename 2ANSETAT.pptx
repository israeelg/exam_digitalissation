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395" r:id="rId3"/>
    <p:sldId id="416" r:id="rId4"/>
    <p:sldId id="360" r:id="rId5"/>
    <p:sldId id="417" r:id="rId6"/>
    <p:sldId id="418" r:id="rId7"/>
    <p:sldId id="420" r:id="rId8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14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4E6E"/>
    <a:srgbClr val="E8F1F6"/>
    <a:srgbClr val="D0E5F8"/>
    <a:srgbClr val="FFBD8D"/>
    <a:srgbClr val="00C983"/>
    <a:srgbClr val="FFFFFF"/>
    <a:srgbClr val="1B75A6"/>
    <a:srgbClr val="5B9BD5"/>
    <a:srgbClr val="E1EDF3"/>
    <a:srgbClr val="108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5370" autoAdjust="0"/>
  </p:normalViewPr>
  <p:slideViewPr>
    <p:cSldViewPr>
      <p:cViewPr varScale="1">
        <p:scale>
          <a:sx n="86" d="100"/>
          <a:sy n="86" d="100"/>
        </p:scale>
        <p:origin x="2154" y="66"/>
      </p:cViewPr>
      <p:guideLst>
        <p:guide orient="horz" pos="2880"/>
        <p:guide pos="145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A2050-623C-4E71-A1DF-534AA49173E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7F83A1-5F0E-44B2-A666-4B926F507F0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30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BE28C-12E3-46B5-BAA0-2B2A1F6FCB59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BF8E2-207B-4138-9F7A-74EC982BFB2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5830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7BF8E2-207B-4138-9F7A-74EC982BFB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92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7BF8E2-207B-4138-9F7A-74EC982BFB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3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A65CC-C324-03A8-DB5C-7AC591C2B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C0CC02-4470-82EF-E104-B97F13E6F6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ECA1B-CFB8-AD6B-4D7A-4B6438B97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altLang="en-US" sz="1400" b="1" i="0" u="none" strike="noStrike" cap="none" normalizeH="0" baseline="0" dirty="0">
              <a:ln>
                <a:noFill/>
              </a:ln>
              <a:solidFill>
                <a:srgbClr val="124E6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C6CFB-CE25-8371-7780-226E4A8866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7BF8E2-207B-4138-9F7A-74EC982BFB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738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altLang="en-US" sz="1400" b="1" i="0" u="none" strike="noStrike" cap="none" normalizeH="0" baseline="0" dirty="0">
              <a:ln>
                <a:noFill/>
              </a:ln>
              <a:solidFill>
                <a:srgbClr val="124E6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7BF8E2-207B-4138-9F7A-74EC982BFB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73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9D693-5498-F9C9-7D3D-8A19F9EBE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4B349-5E99-696D-A0C4-D5FAF9E37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4C1BC2-302F-B254-B4E6-7976712B6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altLang="en-US" sz="1400" b="1" i="0" u="none" strike="noStrike" cap="none" normalizeH="0" baseline="0" dirty="0">
              <a:ln>
                <a:noFill/>
              </a:ln>
              <a:solidFill>
                <a:srgbClr val="124E6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AF7EC-7122-F80B-6FB5-6F7670EB0A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7BF8E2-207B-4138-9F7A-74EC982BFB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58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C5C72-AC37-25F3-4EC5-B38425541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9369C0-7457-20CB-1464-4EE820B6F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CA99E5-F474-9897-FA7D-53973F6F6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altLang="en-US" sz="1400" b="1" i="0" u="none" strike="noStrike" cap="none" normalizeH="0" baseline="0" dirty="0">
              <a:ln>
                <a:noFill/>
              </a:ln>
              <a:solidFill>
                <a:srgbClr val="124E6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B31AC-AF7A-704F-1799-F30DC37CE8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7BF8E2-207B-4138-9F7A-74EC982BFB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36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A50C8-193F-3C46-0DDA-685D485C5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F84571-9750-6E68-15BB-670FF3F56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EA0579-2A4E-201C-1220-EFE217EA9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altLang="en-US" sz="1400" b="1" i="0" u="none" strike="noStrike" cap="none" normalizeH="0" baseline="0" dirty="0">
              <a:ln>
                <a:noFill/>
              </a:ln>
              <a:solidFill>
                <a:srgbClr val="124E6E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2FE28-B941-E3D2-17BD-38041C93D0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7BF8E2-207B-4138-9F7A-74EC982BFB2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57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130" dirty="0" err="1"/>
              <a:t>Israe</a:t>
            </a:r>
            <a:r>
              <a:rPr lang="en-US" spc="130" dirty="0"/>
              <a:t> EL GHIZI</a:t>
            </a:r>
            <a:endParaRPr spc="8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95" dirty="0"/>
              <a:t> 01/07/2024</a:t>
            </a:r>
            <a:endParaRPr spc="6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t>‹N°›</a:t>
            </a:fld>
            <a:r>
              <a:rPr spc="-15" dirty="0"/>
              <a:t> </a:t>
            </a:r>
            <a:r>
              <a:rPr spc="130" dirty="0"/>
              <a:t>/</a:t>
            </a:r>
            <a:r>
              <a:rPr spc="-15" dirty="0"/>
              <a:t> </a:t>
            </a:r>
            <a:r>
              <a:rPr lang="en-US" spc="60" dirty="0"/>
              <a:t>33</a:t>
            </a:r>
            <a:endParaRPr spc="6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130" dirty="0" err="1"/>
              <a:t>Israe</a:t>
            </a:r>
            <a:r>
              <a:rPr lang="en-US" spc="130" dirty="0"/>
              <a:t> EL GHIZI</a:t>
            </a:r>
            <a:endParaRPr spc="8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95" dirty="0"/>
              <a:t> 01/07/2024</a:t>
            </a:r>
            <a:endParaRPr spc="6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t>‹N°›</a:t>
            </a:fld>
            <a:r>
              <a:rPr spc="-15" dirty="0"/>
              <a:t> </a:t>
            </a:r>
            <a:r>
              <a:rPr spc="130" dirty="0"/>
              <a:t>/</a:t>
            </a:r>
            <a:r>
              <a:rPr spc="-15" dirty="0"/>
              <a:t> </a:t>
            </a:r>
            <a:r>
              <a:rPr lang="en-US" spc="60" dirty="0"/>
              <a:t>33</a:t>
            </a:r>
            <a:endParaRPr spc="6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130" dirty="0" err="1"/>
              <a:t>Israe</a:t>
            </a:r>
            <a:r>
              <a:rPr lang="en-US" spc="130" dirty="0"/>
              <a:t> EL GHIZI</a:t>
            </a:r>
            <a:endParaRPr spc="8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95" dirty="0"/>
              <a:t> 01/07/2024</a:t>
            </a:r>
            <a:endParaRPr spc="6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t>‹N°›</a:t>
            </a:fld>
            <a:r>
              <a:rPr spc="-15" dirty="0"/>
              <a:t> </a:t>
            </a:r>
            <a:r>
              <a:rPr spc="130" dirty="0"/>
              <a:t>/</a:t>
            </a:r>
            <a:r>
              <a:rPr spc="-15" dirty="0"/>
              <a:t> </a:t>
            </a:r>
            <a:r>
              <a:rPr lang="en-US" spc="60" dirty="0"/>
              <a:t>33</a:t>
            </a:r>
            <a:endParaRPr spc="6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130" dirty="0" err="1"/>
              <a:t>Israe</a:t>
            </a:r>
            <a:r>
              <a:rPr lang="en-US" spc="130" dirty="0"/>
              <a:t> EL GHIZI</a:t>
            </a:r>
            <a:endParaRPr spc="8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95" dirty="0"/>
              <a:t> 01/07/2024</a:t>
            </a:r>
            <a:endParaRPr spc="6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t>‹N°›</a:t>
            </a:fld>
            <a:r>
              <a:rPr spc="-15" dirty="0"/>
              <a:t> </a:t>
            </a:r>
            <a:r>
              <a:rPr spc="130" dirty="0"/>
              <a:t>/</a:t>
            </a:r>
            <a:r>
              <a:rPr spc="-15" dirty="0"/>
              <a:t> </a:t>
            </a:r>
            <a:r>
              <a:rPr lang="en-US" spc="60" dirty="0"/>
              <a:t>33</a:t>
            </a:r>
            <a:endParaRPr spc="6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130" dirty="0" err="1"/>
              <a:t>Israe</a:t>
            </a:r>
            <a:r>
              <a:rPr lang="en-US" spc="130" dirty="0"/>
              <a:t> EL GHIZI</a:t>
            </a:r>
            <a:endParaRPr spc="8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95" dirty="0"/>
              <a:t> 01/07/2024</a:t>
            </a:r>
            <a:endParaRPr spc="6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t>‹N°›</a:t>
            </a:fld>
            <a:r>
              <a:rPr spc="-15" dirty="0"/>
              <a:t> </a:t>
            </a:r>
            <a:r>
              <a:rPr spc="130" dirty="0"/>
              <a:t>/</a:t>
            </a:r>
            <a:r>
              <a:rPr spc="-15" dirty="0"/>
              <a:t> </a:t>
            </a:r>
            <a:r>
              <a:rPr lang="en-US" spc="60" dirty="0"/>
              <a:t>33</a:t>
            </a:r>
            <a:endParaRPr spc="6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39212" y="3265004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7D7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59595" y="3261042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3EB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37397" y="3261042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3EB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299713" y="325469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7D7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36544" y="326104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3EB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02394" y="326739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7D7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13493" y="326104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3EB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89694" y="325469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3EB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66643" y="325469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7D7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790442" y="326104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3EB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66643" y="3292792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3EB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3592" y="325469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7D7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5172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7D7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8677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7D7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469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7D7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0"/>
            <a:ext cx="2304415" cy="135890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648"/>
                </a:lnTo>
                <a:lnTo>
                  <a:pt x="2303995" y="135648"/>
                </a:lnTo>
                <a:lnTo>
                  <a:pt x="2303995" y="0"/>
                </a:lnTo>
                <a:close/>
              </a:path>
            </a:pathLst>
          </a:custGeom>
          <a:solidFill>
            <a:srgbClr val="124E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6469" y="989252"/>
            <a:ext cx="2377160" cy="1162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0632" y="1033118"/>
            <a:ext cx="4248835" cy="1720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765" y="3353673"/>
            <a:ext cx="1478915" cy="897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130" dirty="0" err="1"/>
              <a:t>Israe</a:t>
            </a:r>
            <a:r>
              <a:rPr lang="en-US" spc="130" dirty="0"/>
              <a:t> EL GHIZI</a:t>
            </a:r>
            <a:endParaRPr spc="8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15893" y="3353673"/>
            <a:ext cx="585470" cy="897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670"/>
              </a:lnSpc>
            </a:pPr>
            <a:r>
              <a:rPr lang="en-US" spc="95" dirty="0"/>
              <a:t> 01/07/2024</a:t>
            </a:r>
            <a:endParaRPr spc="6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41362" y="3353673"/>
            <a:ext cx="352425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670"/>
              </a:lnSpc>
            </a:pPr>
            <a:fld id="{81D60167-4931-47E6-BA6A-407CBD079E47}" type="slidenum">
              <a:rPr spc="60" dirty="0"/>
              <a:t>‹N°›</a:t>
            </a:fld>
            <a:r>
              <a:rPr spc="-15" dirty="0"/>
              <a:t> </a:t>
            </a:r>
            <a:r>
              <a:rPr spc="130" dirty="0"/>
              <a:t>/</a:t>
            </a:r>
            <a:r>
              <a:rPr spc="-15" dirty="0"/>
              <a:t> </a:t>
            </a:r>
            <a:r>
              <a:rPr lang="en-US" spc="60" dirty="0"/>
              <a:t>33</a:t>
            </a:r>
            <a:endParaRPr spc="6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03995" y="0"/>
            <a:ext cx="2304415" cy="135890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648"/>
                </a:lnTo>
                <a:lnTo>
                  <a:pt x="2303995" y="135648"/>
                </a:lnTo>
                <a:lnTo>
                  <a:pt x="2303995" y="0"/>
                </a:lnTo>
                <a:close/>
              </a:path>
            </a:pathLst>
          </a:custGeom>
          <a:solidFill>
            <a:srgbClr val="1088B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2839" y="205752"/>
            <a:ext cx="2133599" cy="61447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24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B75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59D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28765" y="3353673"/>
            <a:ext cx="1478915" cy="9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70"/>
              </a:lnSpc>
            </a:pPr>
            <a:r>
              <a:rPr lang="fr-FR" sz="700" b="1" spc="130" dirty="0" err="1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Israe</a:t>
            </a:r>
            <a:r>
              <a:rPr lang="fr-FR" sz="700" b="1" spc="130" dirty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 EL GHIZI</a:t>
            </a:r>
            <a:endParaRPr sz="700" b="1" spc="80" dirty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83485" y="3353673"/>
            <a:ext cx="44132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fr-FR" sz="600" dirty="0">
                <a:solidFill>
                  <a:schemeClr val="bg1"/>
                </a:solidFill>
                <a:latin typeface="Bahnschrift SemiBold" panose="020B0502040204020203" pitchFamily="34" charset="0"/>
                <a:cs typeface="Calibri"/>
              </a:rPr>
              <a:t>Master ID</a:t>
            </a:r>
            <a:endParaRPr sz="600" dirty="0">
              <a:solidFill>
                <a:schemeClr val="bg1"/>
              </a:solidFill>
              <a:latin typeface="Bahnschrift SemiBold" panose="020B0502040204020203" pitchFamily="34" charset="0"/>
              <a:cs typeface="Calibri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33422" y="1351099"/>
            <a:ext cx="4330930" cy="1015663"/>
            <a:chOff x="171449" y="1270234"/>
            <a:chExt cx="4330930" cy="1015663"/>
          </a:xfrm>
        </p:grpSpPr>
        <p:sp>
          <p:nvSpPr>
            <p:cNvPr id="5" name="object 5"/>
            <p:cNvSpPr/>
            <p:nvPr/>
          </p:nvSpPr>
          <p:spPr>
            <a:xfrm>
              <a:off x="171449" y="1270234"/>
              <a:ext cx="4330930" cy="958029"/>
            </a:xfrm>
            <a:custGeom>
              <a:avLst/>
              <a:gdLst/>
              <a:ahLst/>
              <a:cxnLst/>
              <a:rect l="l" t="t" r="r" b="b"/>
              <a:pathLst>
                <a:path w="4432935" h="706755">
                  <a:moveTo>
                    <a:pt x="4432566" y="44424"/>
                  </a:moveTo>
                  <a:lnTo>
                    <a:pt x="4431271" y="44424"/>
                  </a:lnTo>
                  <a:lnTo>
                    <a:pt x="4428566" y="31076"/>
                  </a:lnTo>
                  <a:lnTo>
                    <a:pt x="4417644" y="14922"/>
                  </a:lnTo>
                  <a:lnTo>
                    <a:pt x="4401502" y="4013"/>
                  </a:lnTo>
                  <a:lnTo>
                    <a:pt x="4381766" y="0"/>
                  </a:lnTo>
                  <a:lnTo>
                    <a:pt x="50812" y="0"/>
                  </a:lnTo>
                  <a:lnTo>
                    <a:pt x="31076" y="4013"/>
                  </a:lnTo>
                  <a:lnTo>
                    <a:pt x="14922" y="14922"/>
                  </a:lnTo>
                  <a:lnTo>
                    <a:pt x="4013" y="31076"/>
                  </a:lnTo>
                  <a:lnTo>
                    <a:pt x="1295" y="44424"/>
                  </a:lnTo>
                  <a:lnTo>
                    <a:pt x="0" y="44424"/>
                  </a:lnTo>
                  <a:lnTo>
                    <a:pt x="0" y="50812"/>
                  </a:lnTo>
                  <a:lnTo>
                    <a:pt x="0" y="82384"/>
                  </a:lnTo>
                  <a:lnTo>
                    <a:pt x="0" y="655510"/>
                  </a:lnTo>
                  <a:lnTo>
                    <a:pt x="4013" y="675233"/>
                  </a:lnTo>
                  <a:lnTo>
                    <a:pt x="14922" y="691388"/>
                  </a:lnTo>
                  <a:lnTo>
                    <a:pt x="31076" y="702297"/>
                  </a:lnTo>
                  <a:lnTo>
                    <a:pt x="50812" y="706310"/>
                  </a:lnTo>
                  <a:lnTo>
                    <a:pt x="4381766" y="706310"/>
                  </a:lnTo>
                  <a:lnTo>
                    <a:pt x="4401502" y="702297"/>
                  </a:lnTo>
                  <a:lnTo>
                    <a:pt x="4417644" y="691388"/>
                  </a:lnTo>
                  <a:lnTo>
                    <a:pt x="4428566" y="675233"/>
                  </a:lnTo>
                  <a:lnTo>
                    <a:pt x="4432566" y="655510"/>
                  </a:lnTo>
                  <a:lnTo>
                    <a:pt x="4432566" y="82384"/>
                  </a:lnTo>
                  <a:lnTo>
                    <a:pt x="4432566" y="50812"/>
                  </a:lnTo>
                  <a:lnTo>
                    <a:pt x="4432566" y="44424"/>
                  </a:lnTo>
                  <a:close/>
                </a:path>
              </a:pathLst>
            </a:custGeom>
            <a:solidFill>
              <a:srgbClr val="1B75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0792" y="1270234"/>
              <a:ext cx="411374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b="1" dirty="0">
                  <a:solidFill>
                    <a:schemeClr val="bg1"/>
                  </a:solidFill>
                  <a:latin typeface="Bahnschrift SemiLight SemiConde" panose="020B0502040204020203" pitchFamily="34" charset="0"/>
                  <a:ea typeface="Cambria Math" panose="02040503050406030204" pitchFamily="18" charset="0"/>
                </a:rPr>
                <a:t>SELF SUPERVISED LEARNING </a:t>
              </a:r>
              <a:r>
                <a:rPr lang="fr-FR" sz="2000" b="1" dirty="0" err="1">
                  <a:solidFill>
                    <a:schemeClr val="bg1"/>
                  </a:solidFill>
                  <a:latin typeface="Bahnschrift SemiLight SemiConde" panose="020B0502040204020203" pitchFamily="34" charset="0"/>
                  <a:ea typeface="Cambria Math" panose="02040503050406030204" pitchFamily="18" charset="0"/>
                </a:rPr>
                <a:t>with</a:t>
              </a:r>
              <a:r>
                <a:rPr lang="fr-FR" sz="2000" b="1" dirty="0">
                  <a:solidFill>
                    <a:schemeClr val="bg1"/>
                  </a:solidFill>
                  <a:latin typeface="Bahnschrift SemiLight SemiConde" panose="020B0502040204020203" pitchFamily="34" charset="0"/>
                  <a:ea typeface="Cambria Math" panose="02040503050406030204" pitchFamily="18" charset="0"/>
                </a:rPr>
                <a:t> GRAPH NEURAL NETWORK for </a:t>
              </a:r>
              <a:r>
                <a:rPr lang="fr-FR" sz="2000" b="1" dirty="0" err="1">
                  <a:solidFill>
                    <a:schemeClr val="bg1"/>
                  </a:solidFill>
                  <a:latin typeface="Bahnschrift SemiLight SemiConde" panose="020B0502040204020203" pitchFamily="34" charset="0"/>
                  <a:ea typeface="Cambria Math" panose="02040503050406030204" pitchFamily="18" charset="0"/>
                </a:rPr>
                <a:t>bio-medical</a:t>
              </a:r>
              <a:r>
                <a:rPr lang="fr-FR" sz="2000" b="1" dirty="0">
                  <a:solidFill>
                    <a:schemeClr val="bg1"/>
                  </a:solidFill>
                  <a:latin typeface="Bahnschrift SemiLight SemiConde" panose="020B0502040204020203" pitchFamily="34" charset="0"/>
                  <a:ea typeface="Cambria Math" panose="02040503050406030204" pitchFamily="18" charset="0"/>
                </a:rPr>
                <a:t> data</a:t>
              </a:r>
              <a:endPara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 SemiLight SemiConde" panose="020B0502040204020203" pitchFamily="34" charset="0"/>
                <a:ea typeface="Cambria Math" panose="02040503050406030204" pitchFamily="18" charset="0"/>
              </a:endParaRPr>
            </a:p>
          </p:txBody>
        </p:sp>
      </p:grpSp>
      <p:sp>
        <p:nvSpPr>
          <p:cNvPr id="19" name="Rectangle 18"/>
          <p:cNvSpPr/>
          <p:nvPr/>
        </p:nvSpPr>
        <p:spPr>
          <a:xfrm>
            <a:off x="1108070" y="2556160"/>
            <a:ext cx="23816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Présenté par : </a:t>
            </a:r>
            <a:r>
              <a:rPr lang="fr-FR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Israe</a:t>
            </a:r>
            <a:r>
              <a:rPr lang="fr-F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 GHIZI</a:t>
            </a:r>
          </a:p>
          <a:p>
            <a:pPr algn="ctr"/>
            <a:r>
              <a:rPr lang="fr-F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Encadré par : Pr. Yousef EL MOURABIT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7"/>
          </p:nvPr>
        </p:nvSpPr>
        <p:spPr>
          <a:xfrm>
            <a:off x="4241362" y="3353673"/>
            <a:ext cx="352425" cy="89768"/>
          </a:xfrm>
        </p:spPr>
        <p:txBody>
          <a:bodyPr/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lang="en-US" spc="60" smtClean="0"/>
              <a:t>1</a:t>
            </a:fld>
            <a:r>
              <a:rPr lang="en-US" spc="-15" dirty="0"/>
              <a:t> </a:t>
            </a:r>
            <a:r>
              <a:rPr lang="en-US" spc="130" dirty="0"/>
              <a:t>/</a:t>
            </a:r>
            <a:r>
              <a:rPr lang="en-US" spc="-15" dirty="0"/>
              <a:t> </a:t>
            </a:r>
            <a:r>
              <a:rPr lang="en-US" spc="60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object 8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24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B75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59D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28765" y="3353673"/>
            <a:ext cx="1478915" cy="9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70"/>
              </a:lnSpc>
            </a:pPr>
            <a:r>
              <a:rPr lang="fr-FR" sz="700" b="1" spc="130" dirty="0" err="1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Israe</a:t>
            </a:r>
            <a:r>
              <a:rPr lang="fr-FR" sz="700" b="1" spc="130" dirty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 EL GHIZI</a:t>
            </a:r>
            <a:endParaRPr sz="700" b="1" spc="80" dirty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83485" y="3353673"/>
            <a:ext cx="44132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fr-FR" sz="600" dirty="0">
                <a:solidFill>
                  <a:schemeClr val="bg1"/>
                </a:solidFill>
                <a:latin typeface="Bahnschrift SemiBold" panose="020B0502040204020203" pitchFamily="34" charset="0"/>
                <a:cs typeface="Calibri"/>
              </a:rPr>
              <a:t>Master ID</a:t>
            </a:r>
            <a:endParaRPr sz="600" dirty="0">
              <a:solidFill>
                <a:schemeClr val="bg1"/>
              </a:solidFill>
              <a:latin typeface="Bahnschrift SemiBold" panose="020B0502040204020203" pitchFamily="34" charset="0"/>
              <a:cs typeface="Calibri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7"/>
          </p:nvPr>
        </p:nvSpPr>
        <p:spPr>
          <a:xfrm>
            <a:off x="4241362" y="3353673"/>
            <a:ext cx="352425" cy="89768"/>
          </a:xfrm>
        </p:spPr>
        <p:txBody>
          <a:bodyPr/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lang="en-US" spc="60" smtClean="0"/>
              <a:t>2</a:t>
            </a:fld>
            <a:r>
              <a:rPr lang="en-US" spc="-15" dirty="0"/>
              <a:t> </a:t>
            </a:r>
            <a:r>
              <a:rPr lang="en-US" spc="130" dirty="0"/>
              <a:t>/</a:t>
            </a:r>
            <a:r>
              <a:rPr lang="en-US" spc="-15" dirty="0"/>
              <a:t> </a:t>
            </a:r>
            <a:r>
              <a:rPr lang="en-US" spc="60" dirty="0"/>
              <a:t>33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86629" y="363456"/>
            <a:ext cx="3993712" cy="2262609"/>
            <a:chOff x="1015285" y="812413"/>
            <a:chExt cx="6730048" cy="419869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BE16EA7-BF98-4659-8C84-99B189D7B1F0}"/>
                </a:ext>
              </a:extLst>
            </p:cNvPr>
            <p:cNvSpPr txBox="1"/>
            <p:nvPr/>
          </p:nvSpPr>
          <p:spPr>
            <a:xfrm>
              <a:off x="2021068" y="820696"/>
              <a:ext cx="5724265" cy="943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124E6E"/>
                  </a:solidFill>
                  <a:latin typeface="Bahnschrift Condensed" panose="020B0502040204020203" pitchFamily="34" charset="0"/>
                </a:rPr>
                <a:t>Introduction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F0625B8-DF88-46AD-B538-E2BCE6B425F1}"/>
                </a:ext>
              </a:extLst>
            </p:cNvPr>
            <p:cNvGrpSpPr/>
            <p:nvPr/>
          </p:nvGrpSpPr>
          <p:grpSpPr>
            <a:xfrm>
              <a:off x="1015285" y="812413"/>
              <a:ext cx="1034473" cy="4198697"/>
              <a:chOff x="1015285" y="812413"/>
              <a:chExt cx="1034473" cy="4198697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99CB9F20-7C3B-420D-A952-E027420572B6}"/>
                  </a:ext>
                </a:extLst>
              </p:cNvPr>
              <p:cNvGrpSpPr/>
              <p:nvPr/>
            </p:nvGrpSpPr>
            <p:grpSpPr>
              <a:xfrm>
                <a:off x="1015285" y="812413"/>
                <a:ext cx="1034473" cy="4198697"/>
                <a:chOff x="1015285" y="812413"/>
                <a:chExt cx="1034473" cy="4198697"/>
              </a:xfrm>
            </p:grpSpPr>
            <p:sp>
              <p:nvSpPr>
                <p:cNvPr id="21" name="Rounded Rectangle 26">
                  <a:extLst>
                    <a:ext uri="{FF2B5EF4-FFF2-40B4-BE49-F238E27FC236}">
                      <a16:creationId xmlns:a16="http://schemas.microsoft.com/office/drawing/2014/main" id="{3F2A214D-071D-49B5-9452-357A1BEAD416}"/>
                    </a:ext>
                  </a:extLst>
                </p:cNvPr>
                <p:cNvSpPr/>
                <p:nvPr/>
              </p:nvSpPr>
              <p:spPr>
                <a:xfrm>
                  <a:off x="1270375" y="812413"/>
                  <a:ext cx="504064" cy="419869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24E6E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A2A6B086-0329-4C64-8F60-E78DFDCC855B}"/>
                    </a:ext>
                  </a:extLst>
                </p:cNvPr>
                <p:cNvSpPr/>
                <p:nvPr/>
              </p:nvSpPr>
              <p:spPr>
                <a:xfrm>
                  <a:off x="1015285" y="812417"/>
                  <a:ext cx="1034473" cy="1034474"/>
                </a:xfrm>
                <a:prstGeom prst="ellipse">
                  <a:avLst/>
                </a:prstGeom>
                <a:solidFill>
                  <a:srgbClr val="124E6E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</p:grp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B5FDF0D-CF65-4C5D-9897-52C13198C3BF}"/>
                  </a:ext>
                </a:extLst>
              </p:cNvPr>
              <p:cNvSpPr/>
              <p:nvPr/>
            </p:nvSpPr>
            <p:spPr>
              <a:xfrm>
                <a:off x="1104784" y="836564"/>
                <a:ext cx="835250" cy="8567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defTabSz="1219170">
                  <a:defRPr/>
                </a:pPr>
                <a:r>
                  <a:rPr lang="fr-FR" sz="2400" b="1" dirty="0">
                    <a:solidFill>
                      <a:prstClr val="white"/>
                    </a:solidFill>
                  </a:rPr>
                  <a:t>01</a:t>
                </a:r>
              </a:p>
            </p:txBody>
          </p:sp>
        </p:grpSp>
      </p:grpSp>
      <p:grpSp>
        <p:nvGrpSpPr>
          <p:cNvPr id="23" name="Group 22"/>
          <p:cNvGrpSpPr/>
          <p:nvPr/>
        </p:nvGrpSpPr>
        <p:grpSpPr>
          <a:xfrm>
            <a:off x="600075" y="816157"/>
            <a:ext cx="3993712" cy="2144846"/>
            <a:chOff x="1015285" y="812413"/>
            <a:chExt cx="6730048" cy="419869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BE16EA7-BF98-4659-8C84-99B189D7B1F0}"/>
                </a:ext>
              </a:extLst>
            </p:cNvPr>
            <p:cNvSpPr txBox="1"/>
            <p:nvPr/>
          </p:nvSpPr>
          <p:spPr>
            <a:xfrm>
              <a:off x="2021068" y="820696"/>
              <a:ext cx="5724265" cy="9037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1B75A6"/>
                  </a:solidFill>
                  <a:latin typeface="Bahnschrift Condensed" panose="020B0502040204020203" pitchFamily="34" charset="0"/>
                </a:rPr>
                <a:t>Problématique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F0625B8-DF88-46AD-B538-E2BCE6B425F1}"/>
                </a:ext>
              </a:extLst>
            </p:cNvPr>
            <p:cNvGrpSpPr/>
            <p:nvPr/>
          </p:nvGrpSpPr>
          <p:grpSpPr>
            <a:xfrm>
              <a:off x="1015285" y="812413"/>
              <a:ext cx="1034473" cy="4198697"/>
              <a:chOff x="1015285" y="812413"/>
              <a:chExt cx="1034473" cy="4198697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99CB9F20-7C3B-420D-A952-E027420572B6}"/>
                  </a:ext>
                </a:extLst>
              </p:cNvPr>
              <p:cNvGrpSpPr/>
              <p:nvPr/>
            </p:nvGrpSpPr>
            <p:grpSpPr>
              <a:xfrm>
                <a:off x="1015285" y="812413"/>
                <a:ext cx="1034473" cy="4198697"/>
                <a:chOff x="1015285" y="812413"/>
                <a:chExt cx="1034473" cy="4198697"/>
              </a:xfrm>
            </p:grpSpPr>
            <p:sp>
              <p:nvSpPr>
                <p:cNvPr id="28" name="Rounded Rectangle 26">
                  <a:extLst>
                    <a:ext uri="{FF2B5EF4-FFF2-40B4-BE49-F238E27FC236}">
                      <a16:creationId xmlns:a16="http://schemas.microsoft.com/office/drawing/2014/main" id="{3F2A214D-071D-49B5-9452-357A1BEAD416}"/>
                    </a:ext>
                  </a:extLst>
                </p:cNvPr>
                <p:cNvSpPr/>
                <p:nvPr/>
              </p:nvSpPr>
              <p:spPr>
                <a:xfrm>
                  <a:off x="1270375" y="812413"/>
                  <a:ext cx="504064" cy="419869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B75A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A2A6B086-0329-4C64-8F60-E78DFDCC855B}"/>
                    </a:ext>
                  </a:extLst>
                </p:cNvPr>
                <p:cNvSpPr/>
                <p:nvPr/>
              </p:nvSpPr>
              <p:spPr>
                <a:xfrm>
                  <a:off x="1015285" y="812416"/>
                  <a:ext cx="1034473" cy="1034475"/>
                </a:xfrm>
                <a:prstGeom prst="ellipse">
                  <a:avLst/>
                </a:prstGeom>
                <a:solidFill>
                  <a:srgbClr val="1B75A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B5FDF0D-CF65-4C5D-9897-52C13198C3BF}"/>
                  </a:ext>
                </a:extLst>
              </p:cNvPr>
              <p:cNvSpPr/>
              <p:nvPr/>
            </p:nvSpPr>
            <p:spPr>
              <a:xfrm>
                <a:off x="1121127" y="871804"/>
                <a:ext cx="835248" cy="9037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defTabSz="1219170">
                  <a:defRPr/>
                </a:pPr>
                <a:r>
                  <a:rPr lang="fr-FR" sz="2400" b="1" dirty="0">
                    <a:solidFill>
                      <a:prstClr val="white"/>
                    </a:solidFill>
                  </a:rPr>
                  <a:t>02</a:t>
                </a:r>
              </a:p>
            </p:txBody>
          </p:sp>
        </p:grpSp>
      </p:grpSp>
      <p:grpSp>
        <p:nvGrpSpPr>
          <p:cNvPr id="30" name="Group 29"/>
          <p:cNvGrpSpPr/>
          <p:nvPr/>
        </p:nvGrpSpPr>
        <p:grpSpPr>
          <a:xfrm>
            <a:off x="1081048" y="1339836"/>
            <a:ext cx="3389036" cy="1931267"/>
            <a:chOff x="1015285" y="675802"/>
            <a:chExt cx="5766860" cy="433530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BE16EA7-BF98-4659-8C84-99B189D7B1F0}"/>
                </a:ext>
              </a:extLst>
            </p:cNvPr>
            <p:cNvSpPr txBox="1"/>
            <p:nvPr/>
          </p:nvSpPr>
          <p:spPr>
            <a:xfrm>
              <a:off x="1971488" y="675802"/>
              <a:ext cx="4810657" cy="1001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300" dirty="0">
                  <a:solidFill>
                    <a:schemeClr val="accent2">
                      <a:lumMod val="75000"/>
                    </a:schemeClr>
                  </a:solidFill>
                  <a:latin typeface="Bahnschrift Condensed" panose="020B0502040204020203" pitchFamily="34" charset="0"/>
                </a:rPr>
                <a:t>Travail effectué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F0625B8-DF88-46AD-B538-E2BCE6B425F1}"/>
                </a:ext>
              </a:extLst>
            </p:cNvPr>
            <p:cNvGrpSpPr/>
            <p:nvPr/>
          </p:nvGrpSpPr>
          <p:grpSpPr>
            <a:xfrm>
              <a:off x="1015285" y="803107"/>
              <a:ext cx="1034473" cy="4208003"/>
              <a:chOff x="1015285" y="803107"/>
              <a:chExt cx="1034473" cy="4208003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99CB9F20-7C3B-420D-A952-E027420572B6}"/>
                  </a:ext>
                </a:extLst>
              </p:cNvPr>
              <p:cNvGrpSpPr/>
              <p:nvPr/>
            </p:nvGrpSpPr>
            <p:grpSpPr>
              <a:xfrm>
                <a:off x="1015285" y="812413"/>
                <a:ext cx="1034473" cy="4198697"/>
                <a:chOff x="1015285" y="812413"/>
                <a:chExt cx="1034473" cy="4198697"/>
              </a:xfrm>
            </p:grpSpPr>
            <p:sp>
              <p:nvSpPr>
                <p:cNvPr id="35" name="Rounded Rectangle 26">
                  <a:extLst>
                    <a:ext uri="{FF2B5EF4-FFF2-40B4-BE49-F238E27FC236}">
                      <a16:creationId xmlns:a16="http://schemas.microsoft.com/office/drawing/2014/main" id="{3F2A214D-071D-49B5-9452-357A1BEAD416}"/>
                    </a:ext>
                  </a:extLst>
                </p:cNvPr>
                <p:cNvSpPr/>
                <p:nvPr/>
              </p:nvSpPr>
              <p:spPr>
                <a:xfrm>
                  <a:off x="1270375" y="812413"/>
                  <a:ext cx="504063" cy="419869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2A6B086-0329-4C64-8F60-E78DFDCC855B}"/>
                    </a:ext>
                  </a:extLst>
                </p:cNvPr>
                <p:cNvSpPr/>
                <p:nvPr/>
              </p:nvSpPr>
              <p:spPr>
                <a:xfrm>
                  <a:off x="1015285" y="812416"/>
                  <a:ext cx="1034473" cy="1034475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</p:grp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B5FDF0D-CF65-4C5D-9897-52C13198C3BF}"/>
                  </a:ext>
                </a:extLst>
              </p:cNvPr>
              <p:cNvSpPr/>
              <p:nvPr/>
            </p:nvSpPr>
            <p:spPr>
              <a:xfrm>
                <a:off x="1064452" y="803107"/>
                <a:ext cx="927647" cy="10363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1219170">
                  <a:defRPr/>
                </a:pPr>
                <a:r>
                  <a:rPr lang="fr-FR" sz="2400" b="1" dirty="0">
                    <a:solidFill>
                      <a:prstClr val="white"/>
                    </a:solidFill>
                  </a:rPr>
                  <a:t>03</a:t>
                </a:r>
              </a:p>
            </p:txBody>
          </p:sp>
        </p:grpSp>
      </p:grpSp>
      <p:grpSp>
        <p:nvGrpSpPr>
          <p:cNvPr id="37" name="Group 36"/>
          <p:cNvGrpSpPr/>
          <p:nvPr/>
        </p:nvGrpSpPr>
        <p:grpSpPr>
          <a:xfrm>
            <a:off x="1558063" y="1885679"/>
            <a:ext cx="3127959" cy="1367633"/>
            <a:chOff x="1015287" y="675802"/>
            <a:chExt cx="5231124" cy="376633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BE16EA7-BF98-4659-8C84-99B189D7B1F0}"/>
                </a:ext>
              </a:extLst>
            </p:cNvPr>
            <p:cNvSpPr txBox="1"/>
            <p:nvPr/>
          </p:nvSpPr>
          <p:spPr>
            <a:xfrm>
              <a:off x="1971486" y="675802"/>
              <a:ext cx="4274925" cy="1186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200" dirty="0">
                  <a:solidFill>
                    <a:schemeClr val="accent6"/>
                  </a:solidFill>
                  <a:latin typeface="Bahnschrift Condensed" panose="020B0502040204020203" pitchFamily="34" charset="0"/>
                </a:rPr>
                <a:t>Travail en cours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F0625B8-DF88-46AD-B538-E2BCE6B425F1}"/>
                </a:ext>
              </a:extLst>
            </p:cNvPr>
            <p:cNvGrpSpPr/>
            <p:nvPr/>
          </p:nvGrpSpPr>
          <p:grpSpPr>
            <a:xfrm>
              <a:off x="1015287" y="754621"/>
              <a:ext cx="999646" cy="3687520"/>
              <a:chOff x="1015287" y="754621"/>
              <a:chExt cx="999646" cy="3687520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99CB9F20-7C3B-420D-A952-E027420572B6}"/>
                  </a:ext>
                </a:extLst>
              </p:cNvPr>
              <p:cNvGrpSpPr/>
              <p:nvPr/>
            </p:nvGrpSpPr>
            <p:grpSpPr>
              <a:xfrm>
                <a:off x="1015287" y="812413"/>
                <a:ext cx="999646" cy="3629728"/>
                <a:chOff x="1015287" y="812413"/>
                <a:chExt cx="999646" cy="3629728"/>
              </a:xfrm>
            </p:grpSpPr>
            <p:sp>
              <p:nvSpPr>
                <p:cNvPr id="42" name="Rounded Rectangle 26">
                  <a:extLst>
                    <a:ext uri="{FF2B5EF4-FFF2-40B4-BE49-F238E27FC236}">
                      <a16:creationId xmlns:a16="http://schemas.microsoft.com/office/drawing/2014/main" id="{3F2A214D-071D-49B5-9452-357A1BEAD416}"/>
                    </a:ext>
                  </a:extLst>
                </p:cNvPr>
                <p:cNvSpPr/>
                <p:nvPr/>
              </p:nvSpPr>
              <p:spPr>
                <a:xfrm>
                  <a:off x="1270375" y="812413"/>
                  <a:ext cx="504063" cy="362972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A2A6B086-0329-4C64-8F60-E78DFDCC855B}"/>
                    </a:ext>
                  </a:extLst>
                </p:cNvPr>
                <p:cNvSpPr/>
                <p:nvPr/>
              </p:nvSpPr>
              <p:spPr>
                <a:xfrm>
                  <a:off x="1015287" y="812416"/>
                  <a:ext cx="999646" cy="120501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dirty="0"/>
                </a:p>
              </p:txBody>
            </p:sp>
          </p:grp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1B5FDF0D-CF65-4C5D-9897-52C13198C3BF}"/>
                  </a:ext>
                </a:extLst>
              </p:cNvPr>
              <p:cNvSpPr/>
              <p:nvPr/>
            </p:nvSpPr>
            <p:spPr>
              <a:xfrm>
                <a:off x="1035896" y="754621"/>
                <a:ext cx="927647" cy="12713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 defTabSz="1219170">
                  <a:defRPr/>
                </a:pPr>
                <a:r>
                  <a:rPr lang="fr-FR" sz="2400" b="1" dirty="0">
                    <a:solidFill>
                      <a:prstClr val="white"/>
                    </a:solidFill>
                  </a:rPr>
                  <a:t>04</a:t>
                </a:r>
              </a:p>
            </p:txBody>
          </p:sp>
        </p:grpSp>
      </p:grpSp>
      <p:grpSp>
        <p:nvGrpSpPr>
          <p:cNvPr id="44" name="Group 43"/>
          <p:cNvGrpSpPr/>
          <p:nvPr/>
        </p:nvGrpSpPr>
        <p:grpSpPr>
          <a:xfrm>
            <a:off x="1" y="-16124"/>
            <a:ext cx="4610099" cy="374899"/>
            <a:chOff x="1" y="-16124"/>
            <a:chExt cx="4610099" cy="374899"/>
          </a:xfrm>
        </p:grpSpPr>
        <p:sp>
          <p:nvSpPr>
            <p:cNvPr id="45" name="object 2"/>
            <p:cNvSpPr/>
            <p:nvPr/>
          </p:nvSpPr>
          <p:spPr>
            <a:xfrm>
              <a:off x="1" y="0"/>
              <a:ext cx="4610099" cy="358775"/>
            </a:xfrm>
            <a:custGeom>
              <a:avLst/>
              <a:gdLst/>
              <a:ahLst/>
              <a:cxnLst/>
              <a:rect l="l" t="t" r="r" b="b"/>
              <a:pathLst>
                <a:path w="2304415" h="135890">
                  <a:moveTo>
                    <a:pt x="2303995" y="0"/>
                  </a:moveTo>
                  <a:lnTo>
                    <a:pt x="0" y="0"/>
                  </a:lnTo>
                  <a:lnTo>
                    <a:pt x="0" y="135648"/>
                  </a:lnTo>
                  <a:lnTo>
                    <a:pt x="2303995" y="135648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124E6E"/>
            </a:solidFill>
          </p:spPr>
          <p:txBody>
            <a:bodyPr wrap="square" lIns="0" tIns="0" rIns="0" bIns="0" rtlCol="0"/>
            <a:lstStyle/>
            <a:p>
              <a:endParaRPr lang="en-US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4344" y="-16124"/>
              <a:ext cx="14073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Plan</a:t>
              </a:r>
              <a:endPara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object 14">
            <a:extLst>
              <a:ext uri="{FF2B5EF4-FFF2-40B4-BE49-F238E27FC236}">
                <a16:creationId xmlns:a16="http://schemas.microsoft.com/office/drawing/2014/main" id="{62C2C0F1-6B9C-76E3-8DC3-81966A03F8C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415893" y="3353673"/>
            <a:ext cx="58547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r">
              <a:lnSpc>
                <a:spcPts val="670"/>
              </a:lnSpc>
            </a:pPr>
            <a:r>
              <a:rPr lang="en-US" spc="75" dirty="0">
                <a:latin typeface="Bahnschrift SemiBold Condensed" panose="020B0502040204020203" pitchFamily="34" charset="0"/>
              </a:rPr>
              <a:t> 01/07/2024</a:t>
            </a:r>
            <a:endParaRPr spc="6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035697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E1CDB-A52D-C441-0789-58FCE35FA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3DC6613-C7F9-7ABD-85D7-4ECE8E8065D8}"/>
              </a:ext>
            </a:extLst>
          </p:cNvPr>
          <p:cNvSpPr/>
          <p:nvPr/>
        </p:nvSpPr>
        <p:spPr>
          <a:xfrm>
            <a:off x="1" y="0"/>
            <a:ext cx="4610099" cy="358775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648"/>
                </a:lnTo>
                <a:lnTo>
                  <a:pt x="2303995" y="135648"/>
                </a:lnTo>
                <a:lnTo>
                  <a:pt x="2303995" y="0"/>
                </a:lnTo>
                <a:close/>
              </a:path>
            </a:pathLst>
          </a:custGeom>
          <a:solidFill>
            <a:srgbClr val="124E6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5129B405-4D4F-5FBC-7856-9F3176898463}"/>
              </a:ext>
            </a:extLst>
          </p:cNvPr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C3CEB796-E52E-55D0-FF8D-1CCD2BA9DAA4}"/>
                </a:ext>
              </a:extLst>
            </p:cNvPr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24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5F0C08B9-E2DD-D4C3-FD36-9356611510FD}"/>
                </a:ext>
              </a:extLst>
            </p:cNvPr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B75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A376A2E6-FD61-6D66-8BC4-8C4691388C65}"/>
                </a:ext>
              </a:extLst>
            </p:cNvPr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59D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FC4000BB-6144-3D33-6B89-9FE2CA0EA7C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8765" y="3353673"/>
            <a:ext cx="1478915" cy="9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70"/>
              </a:lnSpc>
            </a:pPr>
            <a:r>
              <a:rPr lang="fr-FR" sz="700" b="1" spc="130" dirty="0" err="1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Israe</a:t>
            </a:r>
            <a:r>
              <a:rPr lang="fr-FR" sz="700" b="1" spc="130" dirty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 EL GHIZI</a:t>
            </a:r>
            <a:endParaRPr sz="700" b="1" spc="80" dirty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62A8FAD1-D506-1208-9A0A-F49E44F30187}"/>
              </a:ext>
            </a:extLst>
          </p:cNvPr>
          <p:cNvSpPr txBox="1"/>
          <p:nvPr/>
        </p:nvSpPr>
        <p:spPr>
          <a:xfrm>
            <a:off x="2083485" y="3353673"/>
            <a:ext cx="44132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fr-FR" sz="600" dirty="0">
                <a:solidFill>
                  <a:schemeClr val="bg1"/>
                </a:solidFill>
                <a:latin typeface="Bahnschrift SemiBold" panose="020B0502040204020203" pitchFamily="34" charset="0"/>
                <a:cs typeface="Calibri"/>
              </a:rPr>
              <a:t>Master ID</a:t>
            </a:r>
            <a:endParaRPr sz="600" dirty="0">
              <a:solidFill>
                <a:schemeClr val="bg1"/>
              </a:solidFill>
              <a:latin typeface="Bahnschrift SemiBold" panose="020B0502040204020203" pitchFamily="34" charset="0"/>
              <a:cs typeface="Calibri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896C56C6-0939-659E-D6E3-DAB2562428D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415893" y="3353673"/>
            <a:ext cx="58547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en-US" spc="75" dirty="0">
                <a:latin typeface="Bahnschrift SemiBold Condensed" panose="020B0502040204020203" pitchFamily="34" charset="0"/>
              </a:rPr>
              <a:t> 01/07/2024</a:t>
            </a:r>
            <a:endParaRPr spc="60" dirty="0">
              <a:latin typeface="Bahnschrift SemiBold Condensed" panose="020B0502040204020203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8EF73FF-D91A-B3C3-910B-7139448E2B48}"/>
              </a:ext>
            </a:extLst>
          </p:cNvPr>
          <p:cNvGrpSpPr/>
          <p:nvPr/>
        </p:nvGrpSpPr>
        <p:grpSpPr>
          <a:xfrm>
            <a:off x="2228850" y="0"/>
            <a:ext cx="2379560" cy="355964"/>
            <a:chOff x="2228850" y="0"/>
            <a:chExt cx="2379560" cy="355964"/>
          </a:xfrm>
        </p:grpSpPr>
        <p:sp>
          <p:nvSpPr>
            <p:cNvPr id="16" name="object 2">
              <a:extLst>
                <a:ext uri="{FF2B5EF4-FFF2-40B4-BE49-F238E27FC236}">
                  <a16:creationId xmlns:a16="http://schemas.microsoft.com/office/drawing/2014/main" id="{2E560CC2-1917-FB17-5310-675F2509199E}"/>
                </a:ext>
              </a:extLst>
            </p:cNvPr>
            <p:cNvSpPr/>
            <p:nvPr/>
          </p:nvSpPr>
          <p:spPr>
            <a:xfrm>
              <a:off x="2228850" y="0"/>
              <a:ext cx="2379560" cy="355964"/>
            </a:xfrm>
            <a:custGeom>
              <a:avLst/>
              <a:gdLst/>
              <a:ahLst/>
              <a:cxnLst/>
              <a:rect l="l" t="t" r="r" b="b"/>
              <a:pathLst>
                <a:path w="2304415" h="135890">
                  <a:moveTo>
                    <a:pt x="2303995" y="0"/>
                  </a:moveTo>
                  <a:lnTo>
                    <a:pt x="0" y="0"/>
                  </a:lnTo>
                  <a:lnTo>
                    <a:pt x="0" y="135648"/>
                  </a:lnTo>
                  <a:lnTo>
                    <a:pt x="2303995" y="135648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10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E448592-954D-693B-56F9-88A12A992A93}"/>
                </a:ext>
              </a:extLst>
            </p:cNvPr>
            <p:cNvSpPr/>
            <p:nvPr/>
          </p:nvSpPr>
          <p:spPr>
            <a:xfrm>
              <a:off x="3067050" y="35800"/>
              <a:ext cx="151639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63500">
                <a:lnSpc>
                  <a:spcPct val="100000"/>
                </a:lnSpc>
                <a:spcBef>
                  <a:spcPts val="400"/>
                </a:spcBef>
              </a:pPr>
              <a:endParaRPr lang="en-US" sz="1200" dirty="0">
                <a:solidFill>
                  <a:schemeClr val="bg1"/>
                </a:solidFill>
                <a:latin typeface="Sitka Display" pitchFamily="2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FDBAF4C-14C9-0720-9B16-EA1EE4A7A88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1362" y="3353673"/>
            <a:ext cx="352425" cy="89768"/>
          </a:xfrm>
        </p:spPr>
        <p:txBody>
          <a:bodyPr/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lang="en-US" spc="60" smtClean="0"/>
              <a:t>3</a:t>
            </a:fld>
            <a:r>
              <a:rPr lang="en-US" spc="-15" dirty="0"/>
              <a:t> </a:t>
            </a:r>
            <a:r>
              <a:rPr lang="en-US" spc="130" dirty="0"/>
              <a:t>/</a:t>
            </a:r>
            <a:r>
              <a:rPr lang="en-US" spc="-15" dirty="0"/>
              <a:t> </a:t>
            </a:r>
            <a:r>
              <a:rPr lang="en-US" spc="60" dirty="0"/>
              <a:t>33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06BDC89A-B833-CC76-8E6C-2CDD0B68AB19}"/>
              </a:ext>
            </a:extLst>
          </p:cNvPr>
          <p:cNvSpPr txBox="1"/>
          <p:nvPr/>
        </p:nvSpPr>
        <p:spPr>
          <a:xfrm>
            <a:off x="64344" y="-16124"/>
            <a:ext cx="1707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00"/>
              </a:spcBef>
            </a:pPr>
            <a:r>
              <a:rPr lang="en-US" dirty="0" err="1">
                <a:solidFill>
                  <a:schemeClr val="bg1"/>
                </a:solidFill>
                <a:latin typeface="Sitka Display" pitchFamily="2" charset="0"/>
                <a:cs typeface="Times New Roman" panose="02020603050405020304" pitchFamily="18" charset="0"/>
              </a:rPr>
              <a:t>Problématique</a:t>
            </a:r>
            <a:endParaRPr lang="en-US" dirty="0">
              <a:solidFill>
                <a:schemeClr val="bg1"/>
              </a:solidFill>
              <a:latin typeface="Sitka Display" pitchFamily="2" charset="0"/>
              <a:cs typeface="Times New Roman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4383E5A-BC9E-9684-E055-497806BE7F61}"/>
              </a:ext>
            </a:extLst>
          </p:cNvPr>
          <p:cNvSpPr txBox="1"/>
          <p:nvPr/>
        </p:nvSpPr>
        <p:spPr>
          <a:xfrm>
            <a:off x="851306" y="-5356225"/>
            <a:ext cx="297774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fr-FR" sz="1200" b="1" dirty="0">
                <a:latin typeface="+mj-lt"/>
              </a:rPr>
              <a:t>la rareté, la taille limitée et la difficulté d'étiquetage des bases de données sous forme de graphes disponibles en biologie, ainsi que leur complexité, restreignent l'efficacité et la généralisation de ces algorithmes.</a:t>
            </a:r>
          </a:p>
          <a:p>
            <a:pPr lvl="0" algn="just">
              <a:defRPr/>
            </a:pPr>
            <a:r>
              <a:rPr lang="fr-FR" sz="1200" b="1" dirty="0">
                <a:latin typeface="+mj-lt"/>
              </a:rPr>
              <a:t>Pour surmonter ces limitations, l'apprentissage auto-supervisé avec graph neural network se présente comme une solution prometteuse </a:t>
            </a:r>
          </a:p>
          <a:p>
            <a:pPr lvl="0" algn="just">
              <a:defRPr/>
            </a:pPr>
            <a:r>
              <a:rPr lang="fr-FR" altLang="en-US" sz="1200" b="1" dirty="0">
                <a:latin typeface="+mj-lt"/>
              </a:rPr>
              <a:t>Examinons de plus près </a:t>
            </a:r>
            <a:r>
              <a:rPr lang="fr-FR" sz="1200" b="1" dirty="0">
                <a:latin typeface="+mj-lt"/>
              </a:rPr>
              <a:t>les GNN</a:t>
            </a:r>
            <a:r>
              <a:rPr lang="fr-FR" altLang="en-US" sz="1200" b="1" dirty="0">
                <a:latin typeface="+mj-lt"/>
              </a:rPr>
              <a:t> </a:t>
            </a:r>
            <a:r>
              <a:rPr lang="fr-FR" sz="1200" b="1" dirty="0">
                <a:latin typeface="+mj-lt"/>
              </a:rPr>
              <a:t>l'apprentissage auto-supervisé</a:t>
            </a:r>
            <a:endParaRPr lang="fr-FR" altLang="en-US" sz="1200" b="1" dirty="0">
              <a:solidFill>
                <a:srgbClr val="124E6E"/>
              </a:solidFill>
              <a:latin typeface="+mj-lt"/>
              <a:cs typeface="Times New Roman" panose="02020603050405020304" pitchFamily="18" charset="0"/>
            </a:endParaRPr>
          </a:p>
          <a:p>
            <a:endParaRPr lang="fr-FR" sz="1200" dirty="0"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FD4D70A-6EE6-E23C-B0C8-ECB76A11EB30}"/>
              </a:ext>
            </a:extLst>
          </p:cNvPr>
          <p:cNvSpPr txBox="1"/>
          <p:nvPr/>
        </p:nvSpPr>
        <p:spPr>
          <a:xfrm>
            <a:off x="239931" y="892175"/>
            <a:ext cx="4128154" cy="1448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1200" dirty="0"/>
              <a:t>L’exploitation des Graph Neural Networks et l’apprentissage auto-supervisé pour extraire des représentations biologiques pertinentes à partir de données massives et peu annotées, afin d’améliorer la prédiction, la compréhension et la découverte de mécanismes biologiques complexes ?</a:t>
            </a:r>
          </a:p>
        </p:txBody>
      </p:sp>
    </p:spTree>
    <p:extLst>
      <p:ext uri="{BB962C8B-B14F-4D97-AF65-F5344CB8AC3E}">
        <p14:creationId xmlns:p14="http://schemas.microsoft.com/office/powerpoint/2010/main" val="2546125799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4610099" cy="358775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648"/>
                </a:lnTo>
                <a:lnTo>
                  <a:pt x="2303995" y="135648"/>
                </a:lnTo>
                <a:lnTo>
                  <a:pt x="2303995" y="0"/>
                </a:lnTo>
                <a:close/>
              </a:path>
            </a:pathLst>
          </a:custGeom>
          <a:solidFill>
            <a:srgbClr val="124E6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8" name="object 8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/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24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B75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59D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28765" y="3353673"/>
            <a:ext cx="1478915" cy="9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70"/>
              </a:lnSpc>
            </a:pPr>
            <a:r>
              <a:rPr lang="fr-FR" sz="700" b="1" spc="130" dirty="0" err="1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Israe</a:t>
            </a:r>
            <a:r>
              <a:rPr lang="fr-FR" sz="700" b="1" spc="130" dirty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 EL GHIZI</a:t>
            </a:r>
            <a:endParaRPr sz="700" b="1" spc="80" dirty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83485" y="3353673"/>
            <a:ext cx="44132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fr-FR" sz="600" dirty="0">
                <a:solidFill>
                  <a:schemeClr val="bg1"/>
                </a:solidFill>
                <a:latin typeface="Bahnschrift SemiBold" panose="020B0502040204020203" pitchFamily="34" charset="0"/>
                <a:cs typeface="Calibri"/>
              </a:rPr>
              <a:t>Master ID</a:t>
            </a:r>
            <a:endParaRPr sz="600" dirty="0">
              <a:solidFill>
                <a:schemeClr val="bg1"/>
              </a:solidFill>
              <a:latin typeface="Bahnschrift SemiBold" panose="020B0502040204020203" pitchFamily="34" charset="0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3415893" y="3353673"/>
            <a:ext cx="58547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en-US" spc="75" dirty="0">
                <a:latin typeface="Bahnschrift SemiBold Condensed" panose="020B0502040204020203" pitchFamily="34" charset="0"/>
              </a:rPr>
              <a:t> 01/07/2024</a:t>
            </a:r>
            <a:endParaRPr spc="60" dirty="0">
              <a:latin typeface="Bahnschrift SemiBold Condensed" panose="020B0502040204020203" pitchFamily="34" charset="0"/>
            </a:endParaRPr>
          </a:p>
        </p:txBody>
      </p:sp>
      <p:sp>
        <p:nvSpPr>
          <p:cNvPr id="16" name="object 2"/>
          <p:cNvSpPr/>
          <p:nvPr/>
        </p:nvSpPr>
        <p:spPr>
          <a:xfrm>
            <a:off x="2228850" y="0"/>
            <a:ext cx="2379560" cy="355964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648"/>
                </a:lnTo>
                <a:lnTo>
                  <a:pt x="2303995" y="135648"/>
                </a:lnTo>
                <a:lnTo>
                  <a:pt x="2303995" y="0"/>
                </a:lnTo>
                <a:close/>
              </a:path>
            </a:pathLst>
          </a:custGeom>
          <a:solidFill>
            <a:srgbClr val="1088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7"/>
          </p:nvPr>
        </p:nvSpPr>
        <p:spPr>
          <a:xfrm>
            <a:off x="4241362" y="3353673"/>
            <a:ext cx="352425" cy="89768"/>
          </a:xfrm>
        </p:spPr>
        <p:txBody>
          <a:bodyPr/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lang="en-US" spc="60" smtClean="0"/>
              <a:t>4</a:t>
            </a:fld>
            <a:r>
              <a:rPr lang="en-US" spc="-15" dirty="0"/>
              <a:t> </a:t>
            </a:r>
            <a:r>
              <a:rPr lang="en-US" spc="130" dirty="0"/>
              <a:t>/</a:t>
            </a:r>
            <a:r>
              <a:rPr lang="en-US" spc="-15" dirty="0"/>
              <a:t> </a:t>
            </a:r>
            <a:r>
              <a:rPr lang="en-US" spc="60" dirty="0"/>
              <a:t>33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4DC0E0E1-FD00-87E1-7779-CD525985AF2D}"/>
              </a:ext>
            </a:extLst>
          </p:cNvPr>
          <p:cNvSpPr txBox="1"/>
          <p:nvPr/>
        </p:nvSpPr>
        <p:spPr>
          <a:xfrm>
            <a:off x="64344" y="-16124"/>
            <a:ext cx="1783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Sitka Display" pitchFamily="2" charset="0"/>
                <a:cs typeface="Times New Roman" panose="02020603050405020304" pitchFamily="18" charset="0"/>
              </a:rPr>
              <a:t>Problématique</a:t>
            </a:r>
            <a:endParaRPr lang="en-US" dirty="0">
              <a:solidFill>
                <a:schemeClr val="bg1"/>
              </a:solidFill>
              <a:latin typeface="Sitka Display" pitchFamily="2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5B26C39-BCB3-BE62-EC06-C5BB164F880E}"/>
              </a:ext>
            </a:extLst>
          </p:cNvPr>
          <p:cNvSpPr txBox="1"/>
          <p:nvPr/>
        </p:nvSpPr>
        <p:spPr>
          <a:xfrm>
            <a:off x="851306" y="-5356225"/>
            <a:ext cx="297774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fr-FR" sz="1200" b="1" dirty="0">
                <a:latin typeface="+mj-lt"/>
              </a:rPr>
              <a:t>la rareté, la taille limitée et la difficulté d'étiquetage des bases de données sous forme de graphes disponibles en biologie, ainsi que leur complexité, restreignent l'efficacité et la généralisation de ces algorithmes.</a:t>
            </a:r>
          </a:p>
          <a:p>
            <a:pPr lvl="0" algn="just">
              <a:defRPr/>
            </a:pPr>
            <a:r>
              <a:rPr lang="fr-FR" sz="1200" b="1" dirty="0">
                <a:latin typeface="+mj-lt"/>
              </a:rPr>
              <a:t>Pour surmonter ces limitations, l'apprentissage auto-supervisé avec graph neural network se présente comme une solution prometteuse </a:t>
            </a:r>
          </a:p>
          <a:p>
            <a:pPr lvl="0" algn="just">
              <a:defRPr/>
            </a:pPr>
            <a:r>
              <a:rPr lang="fr-FR" altLang="en-US" sz="1200" b="1" dirty="0">
                <a:latin typeface="+mj-lt"/>
              </a:rPr>
              <a:t>Examinons de plus près </a:t>
            </a:r>
            <a:r>
              <a:rPr lang="fr-FR" sz="1200" b="1" dirty="0">
                <a:latin typeface="+mj-lt"/>
              </a:rPr>
              <a:t>les GNN</a:t>
            </a:r>
            <a:r>
              <a:rPr lang="fr-FR" altLang="en-US" sz="1200" b="1" dirty="0">
                <a:latin typeface="+mj-lt"/>
              </a:rPr>
              <a:t> </a:t>
            </a:r>
            <a:r>
              <a:rPr lang="fr-FR" sz="1200" b="1" dirty="0">
                <a:latin typeface="+mj-lt"/>
              </a:rPr>
              <a:t>l'apprentissage auto-supervisé</a:t>
            </a:r>
            <a:endParaRPr lang="fr-FR" altLang="en-US" sz="1200" b="1" dirty="0">
              <a:solidFill>
                <a:srgbClr val="124E6E"/>
              </a:solidFill>
              <a:latin typeface="+mj-lt"/>
              <a:cs typeface="Times New Roman" panose="02020603050405020304" pitchFamily="18" charset="0"/>
            </a:endParaRPr>
          </a:p>
          <a:p>
            <a:endParaRPr lang="fr-FR" sz="1200" dirty="0"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5AE6CDA-6A88-AB65-A5EE-EF5AE72E5A59}"/>
              </a:ext>
            </a:extLst>
          </p:cNvPr>
          <p:cNvSpPr txBox="1"/>
          <p:nvPr/>
        </p:nvSpPr>
        <p:spPr>
          <a:xfrm>
            <a:off x="171450" y="1006490"/>
            <a:ext cx="4499064" cy="1447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Étiquetage limité et coûteux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Rareté des données biologique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Complexité et relations non linéaires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le manque de cadres professionnels standardisés pour l’étiquetage des bases de données </a:t>
            </a:r>
            <a:endParaRPr lang="fr-FR" altLang="en-US" sz="1200" dirty="0">
              <a:solidFill>
                <a:srgbClr val="124E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901165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F46A6-A4D6-8816-C82E-D62BCD19B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E249495-63C2-66E5-87DC-70A4ADD329FA}"/>
              </a:ext>
            </a:extLst>
          </p:cNvPr>
          <p:cNvSpPr/>
          <p:nvPr/>
        </p:nvSpPr>
        <p:spPr>
          <a:xfrm>
            <a:off x="1" y="0"/>
            <a:ext cx="4610099" cy="358775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648"/>
                </a:lnTo>
                <a:lnTo>
                  <a:pt x="2303995" y="135648"/>
                </a:lnTo>
                <a:lnTo>
                  <a:pt x="2303995" y="0"/>
                </a:lnTo>
                <a:close/>
              </a:path>
            </a:pathLst>
          </a:custGeom>
          <a:solidFill>
            <a:srgbClr val="124E6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DFE9748E-13FC-B429-6230-49E6C7016357}"/>
              </a:ext>
            </a:extLst>
          </p:cNvPr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E8C07159-4587-3A8E-1E94-02AB91F48D8D}"/>
                </a:ext>
              </a:extLst>
            </p:cNvPr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24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13DBD0E5-B56D-D5D1-151A-35AE96A66F03}"/>
                </a:ext>
              </a:extLst>
            </p:cNvPr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B75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E0F7D46D-A1D0-74F6-F4AD-81F25CC2645B}"/>
                </a:ext>
              </a:extLst>
            </p:cNvPr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59D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688C2102-31CC-D23B-0B57-F12EFCE9317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8765" y="3353673"/>
            <a:ext cx="1478915" cy="9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70"/>
              </a:lnSpc>
            </a:pPr>
            <a:r>
              <a:rPr lang="fr-FR" sz="700" b="1" spc="130" dirty="0" err="1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Israe</a:t>
            </a:r>
            <a:r>
              <a:rPr lang="fr-FR" sz="700" b="1" spc="130" dirty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 EL GHIZI</a:t>
            </a:r>
            <a:endParaRPr sz="700" b="1" spc="80" dirty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A91B025-6000-2B25-B28F-88E681297A84}"/>
              </a:ext>
            </a:extLst>
          </p:cNvPr>
          <p:cNvSpPr txBox="1"/>
          <p:nvPr/>
        </p:nvSpPr>
        <p:spPr>
          <a:xfrm>
            <a:off x="2083485" y="3353673"/>
            <a:ext cx="44132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fr-FR" sz="600" dirty="0">
                <a:solidFill>
                  <a:schemeClr val="bg1"/>
                </a:solidFill>
                <a:latin typeface="Bahnschrift SemiBold" panose="020B0502040204020203" pitchFamily="34" charset="0"/>
                <a:cs typeface="Calibri"/>
              </a:rPr>
              <a:t>Master ID</a:t>
            </a:r>
            <a:endParaRPr sz="600" dirty="0">
              <a:solidFill>
                <a:schemeClr val="bg1"/>
              </a:solidFill>
              <a:latin typeface="Bahnschrift SemiBold" panose="020B0502040204020203" pitchFamily="34" charset="0"/>
              <a:cs typeface="Calibri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4F4ADEA5-8FFD-A655-F9FB-2F6E38E76E2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415893" y="3353673"/>
            <a:ext cx="58547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en-US" spc="75" dirty="0">
                <a:latin typeface="Bahnschrift SemiBold Condensed" panose="020B0502040204020203" pitchFamily="34" charset="0"/>
              </a:rPr>
              <a:t> 01/07/2024</a:t>
            </a:r>
            <a:endParaRPr spc="60" dirty="0">
              <a:latin typeface="Bahnschrift SemiBold Condensed" panose="020B0502040204020203" pitchFamily="34" charset="0"/>
            </a:endParaRPr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E96AB966-EFCD-AA92-E43B-77971EEE0BC1}"/>
              </a:ext>
            </a:extLst>
          </p:cNvPr>
          <p:cNvSpPr/>
          <p:nvPr/>
        </p:nvSpPr>
        <p:spPr>
          <a:xfrm>
            <a:off x="2228850" y="0"/>
            <a:ext cx="2379560" cy="355964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648"/>
                </a:lnTo>
                <a:lnTo>
                  <a:pt x="2303995" y="135648"/>
                </a:lnTo>
                <a:lnTo>
                  <a:pt x="2303995" y="0"/>
                </a:lnTo>
                <a:close/>
              </a:path>
            </a:pathLst>
          </a:custGeom>
          <a:solidFill>
            <a:srgbClr val="1088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0191C1C-80A5-77AE-94B6-56B0690E73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1362" y="3353673"/>
            <a:ext cx="352425" cy="89768"/>
          </a:xfrm>
        </p:spPr>
        <p:txBody>
          <a:bodyPr/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lang="en-US" spc="60" smtClean="0"/>
              <a:t>5</a:t>
            </a:fld>
            <a:r>
              <a:rPr lang="en-US" spc="-15" dirty="0"/>
              <a:t> </a:t>
            </a:r>
            <a:r>
              <a:rPr lang="en-US" spc="130" dirty="0"/>
              <a:t>/</a:t>
            </a:r>
            <a:r>
              <a:rPr lang="en-US" spc="-15" dirty="0"/>
              <a:t> </a:t>
            </a:r>
            <a:r>
              <a:rPr lang="en-US" spc="60" dirty="0"/>
              <a:t>33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576039E5-BACC-5D1C-B4CB-B510F4E95AC5}"/>
              </a:ext>
            </a:extLst>
          </p:cNvPr>
          <p:cNvSpPr txBox="1"/>
          <p:nvPr/>
        </p:nvSpPr>
        <p:spPr>
          <a:xfrm>
            <a:off x="64344" y="-16124"/>
            <a:ext cx="1783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Sitka Display" pitchFamily="2" charset="0"/>
                <a:cs typeface="Times New Roman" panose="02020603050405020304" pitchFamily="18" charset="0"/>
              </a:rPr>
              <a:t>Travail effectué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3C1270D-6C03-13BB-FE57-4B5C87CE999D}"/>
              </a:ext>
            </a:extLst>
          </p:cNvPr>
          <p:cNvSpPr txBox="1"/>
          <p:nvPr/>
        </p:nvSpPr>
        <p:spPr>
          <a:xfrm>
            <a:off x="851306" y="-5356225"/>
            <a:ext cx="297774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fr-FR" sz="1200" b="1" dirty="0">
                <a:latin typeface="+mj-lt"/>
              </a:rPr>
              <a:t>la rareté, la taille limitée et la difficulté d'étiquetage des bases de données sous forme de graphes disponibles en biologie, ainsi que leur complexité, restreignent l'efficacité et la généralisation de ces algorithmes.</a:t>
            </a:r>
          </a:p>
          <a:p>
            <a:pPr lvl="0" algn="just">
              <a:defRPr/>
            </a:pPr>
            <a:r>
              <a:rPr lang="fr-FR" sz="1200" b="1" dirty="0">
                <a:latin typeface="+mj-lt"/>
              </a:rPr>
              <a:t>Pour surmonter ces limitations, l'apprentissage auto-supervisé avec graph neural network se présente comme une solution prometteuse </a:t>
            </a:r>
          </a:p>
          <a:p>
            <a:pPr lvl="0" algn="just">
              <a:defRPr/>
            </a:pPr>
            <a:r>
              <a:rPr lang="fr-FR" altLang="en-US" sz="1200" b="1" dirty="0">
                <a:latin typeface="+mj-lt"/>
              </a:rPr>
              <a:t>Examinons de plus près </a:t>
            </a:r>
            <a:r>
              <a:rPr lang="fr-FR" sz="1200" b="1" dirty="0">
                <a:latin typeface="+mj-lt"/>
              </a:rPr>
              <a:t>les GNN</a:t>
            </a:r>
            <a:r>
              <a:rPr lang="fr-FR" altLang="en-US" sz="1200" b="1" dirty="0">
                <a:latin typeface="+mj-lt"/>
              </a:rPr>
              <a:t> </a:t>
            </a:r>
            <a:r>
              <a:rPr lang="fr-FR" sz="1200" b="1" dirty="0">
                <a:latin typeface="+mj-lt"/>
              </a:rPr>
              <a:t>l'apprentissage auto-supervisé</a:t>
            </a:r>
            <a:endParaRPr lang="fr-FR" altLang="en-US" sz="1200" b="1" dirty="0">
              <a:solidFill>
                <a:srgbClr val="124E6E"/>
              </a:solidFill>
              <a:latin typeface="+mj-lt"/>
              <a:cs typeface="Times New Roman" panose="02020603050405020304" pitchFamily="18" charset="0"/>
            </a:endParaRPr>
          </a:p>
          <a:p>
            <a:endParaRPr lang="fr-FR" sz="1200" dirty="0"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2147AC4-31CD-8F05-31FA-A07FBFD5EC76}"/>
              </a:ext>
            </a:extLst>
          </p:cNvPr>
          <p:cNvSpPr txBox="1"/>
          <p:nvPr/>
        </p:nvSpPr>
        <p:spPr>
          <a:xfrm>
            <a:off x="16313" y="369332"/>
            <a:ext cx="4499064" cy="311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Implémentation du modèle de SSL et GNN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Expérimentation avec d’autres techniques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Jensen-Shannon</a:t>
            </a:r>
            <a:endParaRPr lang="en-US" sz="1200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 err="1"/>
              <a:t>InfoNCE</a:t>
            </a:r>
            <a:r>
              <a:rPr lang="en-US" sz="1200" dirty="0"/>
              <a:t> (NT-XENT) loss in contrastive learning, with Wasserstein regularization</a:t>
            </a:r>
            <a:endParaRPr lang="fr-FR" sz="1200" dirty="0"/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Diffèrent technique d’augmentation</a:t>
            </a:r>
          </a:p>
          <a:p>
            <a:pPr lvl="1" algn="just">
              <a:lnSpc>
                <a:spcPct val="150000"/>
              </a:lnSpc>
              <a:defRPr/>
            </a:pPr>
            <a:r>
              <a:rPr lang="fr-FR" sz="1200" b="1" dirty="0">
                <a:solidFill>
                  <a:srgbClr val="FF0000"/>
                </a:solidFill>
              </a:rPr>
              <a:t>Résultat : Aucune optimisation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Essayer d’optimiser en utilisant d’autre hyperparamètre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Etude documentaire du domaine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L’ écriture de l’article des premiers résultats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289449661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79DB4-8099-87EC-36C2-8CA9E467C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D557FA8-3562-F600-0CE6-F1E543233500}"/>
              </a:ext>
            </a:extLst>
          </p:cNvPr>
          <p:cNvSpPr/>
          <p:nvPr/>
        </p:nvSpPr>
        <p:spPr>
          <a:xfrm>
            <a:off x="1" y="0"/>
            <a:ext cx="4610099" cy="358775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648"/>
                </a:lnTo>
                <a:lnTo>
                  <a:pt x="2303995" y="135648"/>
                </a:lnTo>
                <a:lnTo>
                  <a:pt x="2303995" y="0"/>
                </a:lnTo>
                <a:close/>
              </a:path>
            </a:pathLst>
          </a:custGeom>
          <a:solidFill>
            <a:srgbClr val="124E6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1EB1A993-4C77-78C9-3407-143A0CCCB526}"/>
              </a:ext>
            </a:extLst>
          </p:cNvPr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A931BD92-C7FC-3870-0B90-5CB79A7C1317}"/>
                </a:ext>
              </a:extLst>
            </p:cNvPr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24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17AA217E-B44D-9BF0-AB4E-0122CABBCBB8}"/>
                </a:ext>
              </a:extLst>
            </p:cNvPr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B75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54E72554-2B1A-0C29-E30B-D2AC9720CA24}"/>
                </a:ext>
              </a:extLst>
            </p:cNvPr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59D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F233A6C8-E950-D0BF-4F30-A0B1177CAD7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8765" y="3353673"/>
            <a:ext cx="1478915" cy="9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70"/>
              </a:lnSpc>
            </a:pPr>
            <a:r>
              <a:rPr lang="fr-FR" sz="700" b="1" spc="130" dirty="0" err="1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Israe</a:t>
            </a:r>
            <a:r>
              <a:rPr lang="fr-FR" sz="700" b="1" spc="130" dirty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 EL GHIZI</a:t>
            </a:r>
            <a:endParaRPr sz="700" b="1" spc="80" dirty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657C4579-153C-33A5-A452-FD79B061E084}"/>
              </a:ext>
            </a:extLst>
          </p:cNvPr>
          <p:cNvSpPr txBox="1"/>
          <p:nvPr/>
        </p:nvSpPr>
        <p:spPr>
          <a:xfrm>
            <a:off x="2083485" y="3353673"/>
            <a:ext cx="44132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fr-FR" sz="600" dirty="0">
                <a:solidFill>
                  <a:schemeClr val="bg1"/>
                </a:solidFill>
                <a:latin typeface="Bahnschrift SemiBold" panose="020B0502040204020203" pitchFamily="34" charset="0"/>
                <a:cs typeface="Calibri"/>
              </a:rPr>
              <a:t>Master ID</a:t>
            </a:r>
            <a:endParaRPr sz="600" dirty="0">
              <a:solidFill>
                <a:schemeClr val="bg1"/>
              </a:solidFill>
              <a:latin typeface="Bahnschrift SemiBold" panose="020B0502040204020203" pitchFamily="34" charset="0"/>
              <a:cs typeface="Calibri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987012F2-3E33-2693-5742-290ACD01431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415893" y="3353673"/>
            <a:ext cx="58547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en-US" spc="75" dirty="0">
                <a:latin typeface="Bahnschrift SemiBold Condensed" panose="020B0502040204020203" pitchFamily="34" charset="0"/>
              </a:rPr>
              <a:t> 01/07/2024</a:t>
            </a:r>
            <a:endParaRPr spc="60" dirty="0">
              <a:latin typeface="Bahnschrift SemiBold Condensed" panose="020B0502040204020203" pitchFamily="34" charset="0"/>
            </a:endParaRPr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14DB8F56-8058-5D2A-3224-AF0964893C42}"/>
              </a:ext>
            </a:extLst>
          </p:cNvPr>
          <p:cNvSpPr/>
          <p:nvPr/>
        </p:nvSpPr>
        <p:spPr>
          <a:xfrm>
            <a:off x="2228850" y="0"/>
            <a:ext cx="2379560" cy="355964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648"/>
                </a:lnTo>
                <a:lnTo>
                  <a:pt x="2303995" y="135648"/>
                </a:lnTo>
                <a:lnTo>
                  <a:pt x="2303995" y="0"/>
                </a:lnTo>
                <a:close/>
              </a:path>
            </a:pathLst>
          </a:custGeom>
          <a:solidFill>
            <a:srgbClr val="1088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E3188DA-91FD-EA1A-ACFB-789BCA7844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1362" y="3353673"/>
            <a:ext cx="352425" cy="89768"/>
          </a:xfrm>
        </p:spPr>
        <p:txBody>
          <a:bodyPr/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lang="en-US" spc="60" smtClean="0"/>
              <a:t>6</a:t>
            </a:fld>
            <a:r>
              <a:rPr lang="en-US" spc="-15" dirty="0"/>
              <a:t> </a:t>
            </a:r>
            <a:r>
              <a:rPr lang="en-US" spc="130" dirty="0"/>
              <a:t>/</a:t>
            </a:r>
            <a:r>
              <a:rPr lang="en-US" spc="-15" dirty="0"/>
              <a:t> </a:t>
            </a:r>
            <a:r>
              <a:rPr lang="en-US" spc="60" dirty="0"/>
              <a:t>33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AB28B6C4-BF80-C723-FD13-C27EA06DA42F}"/>
              </a:ext>
            </a:extLst>
          </p:cNvPr>
          <p:cNvSpPr txBox="1"/>
          <p:nvPr/>
        </p:nvSpPr>
        <p:spPr>
          <a:xfrm>
            <a:off x="64344" y="-16124"/>
            <a:ext cx="1783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Sitka Display" pitchFamily="2" charset="0"/>
                <a:cs typeface="Times New Roman" panose="02020603050405020304" pitchFamily="18" charset="0"/>
              </a:rPr>
              <a:t>Travail en cours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2134BE9-FDAC-90B7-4864-E00441966839}"/>
              </a:ext>
            </a:extLst>
          </p:cNvPr>
          <p:cNvSpPr txBox="1"/>
          <p:nvPr/>
        </p:nvSpPr>
        <p:spPr>
          <a:xfrm>
            <a:off x="851306" y="-5356225"/>
            <a:ext cx="297774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fr-FR" sz="1200" b="1" dirty="0">
                <a:latin typeface="+mj-lt"/>
              </a:rPr>
              <a:t>la rareté, la taille limitée et la difficulté d'étiquetage des bases de données sous forme de graphes disponibles en biologie, ainsi que leur complexité, restreignent l'efficacité et la généralisation de ces algorithmes.</a:t>
            </a:r>
          </a:p>
          <a:p>
            <a:pPr lvl="0" algn="just">
              <a:defRPr/>
            </a:pPr>
            <a:r>
              <a:rPr lang="fr-FR" sz="1200" b="1" dirty="0">
                <a:latin typeface="+mj-lt"/>
              </a:rPr>
              <a:t>Pour surmonter ces limitations, l'apprentissage auto-supervisé avec graph neural network se présente comme une solution prometteuse </a:t>
            </a:r>
          </a:p>
          <a:p>
            <a:pPr lvl="0" algn="just">
              <a:defRPr/>
            </a:pPr>
            <a:r>
              <a:rPr lang="fr-FR" altLang="en-US" sz="1200" b="1" dirty="0">
                <a:latin typeface="+mj-lt"/>
              </a:rPr>
              <a:t>Examinons de plus près </a:t>
            </a:r>
            <a:r>
              <a:rPr lang="fr-FR" sz="1200" b="1" dirty="0">
                <a:latin typeface="+mj-lt"/>
              </a:rPr>
              <a:t>les GNN</a:t>
            </a:r>
            <a:r>
              <a:rPr lang="fr-FR" altLang="en-US" sz="1200" b="1" dirty="0">
                <a:latin typeface="+mj-lt"/>
              </a:rPr>
              <a:t> </a:t>
            </a:r>
            <a:r>
              <a:rPr lang="fr-FR" sz="1200" b="1" dirty="0">
                <a:latin typeface="+mj-lt"/>
              </a:rPr>
              <a:t>l'apprentissage auto-supervisé</a:t>
            </a:r>
            <a:endParaRPr lang="fr-FR" altLang="en-US" sz="1200" b="1" dirty="0">
              <a:solidFill>
                <a:srgbClr val="124E6E"/>
              </a:solidFill>
              <a:latin typeface="+mj-lt"/>
              <a:cs typeface="Times New Roman" panose="02020603050405020304" pitchFamily="18" charset="0"/>
            </a:endParaRPr>
          </a:p>
          <a:p>
            <a:endParaRPr lang="fr-FR" sz="1200" dirty="0">
              <a:latin typeface="+mj-lt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949A94D-7B44-197F-DFCB-84CEA7EB9739}"/>
              </a:ext>
            </a:extLst>
          </p:cNvPr>
          <p:cNvSpPr txBox="1"/>
          <p:nvPr/>
        </p:nvSpPr>
        <p:spPr>
          <a:xfrm>
            <a:off x="138321" y="511175"/>
            <a:ext cx="3890327" cy="1448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Etude documentaire du domaine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L’ écriture d’un SLR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Modification du code en utilisant OPTUNA librairie pour optimiser les hyperparamètre automatiquement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sz="1200" dirty="0"/>
              <a:t>Recherche d’une piste de recherche </a:t>
            </a:r>
          </a:p>
        </p:txBody>
      </p:sp>
    </p:spTree>
    <p:extLst>
      <p:ext uri="{BB962C8B-B14F-4D97-AF65-F5344CB8AC3E}">
        <p14:creationId xmlns:p14="http://schemas.microsoft.com/office/powerpoint/2010/main" val="3357790564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10E0A-37EC-4BB4-5398-16273EB83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6F0B7E0-64C7-11EA-8472-092784F98A44}"/>
              </a:ext>
            </a:extLst>
          </p:cNvPr>
          <p:cNvSpPr/>
          <p:nvPr/>
        </p:nvSpPr>
        <p:spPr>
          <a:xfrm>
            <a:off x="1" y="0"/>
            <a:ext cx="4610099" cy="358775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648"/>
                </a:lnTo>
                <a:lnTo>
                  <a:pt x="2303995" y="135648"/>
                </a:lnTo>
                <a:lnTo>
                  <a:pt x="2303995" y="0"/>
                </a:lnTo>
                <a:close/>
              </a:path>
            </a:pathLst>
          </a:custGeom>
          <a:solidFill>
            <a:srgbClr val="124E6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C3892B3A-15B6-208A-8D11-C000758E6C52}"/>
              </a:ext>
            </a:extLst>
          </p:cNvPr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FF5D5A4B-FC43-3443-033B-944C3DF42975}"/>
                </a:ext>
              </a:extLst>
            </p:cNvPr>
            <p:cNvSpPr/>
            <p:nvPr/>
          </p:nvSpPr>
          <p:spPr>
            <a:xfrm>
              <a:off x="0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5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24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1592D600-2565-28BA-1F4D-D3CA8671E964}"/>
                </a:ext>
              </a:extLst>
            </p:cNvPr>
            <p:cNvSpPr/>
            <p:nvPr/>
          </p:nvSpPr>
          <p:spPr>
            <a:xfrm>
              <a:off x="1535976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B75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D3EA38E2-49E8-1F52-3093-58B399972378}"/>
                </a:ext>
              </a:extLst>
            </p:cNvPr>
            <p:cNvSpPr/>
            <p:nvPr/>
          </p:nvSpPr>
          <p:spPr>
            <a:xfrm>
              <a:off x="3071952" y="3349777"/>
              <a:ext cx="1536065" cy="106680"/>
            </a:xfrm>
            <a:custGeom>
              <a:avLst/>
              <a:gdLst/>
              <a:ahLst/>
              <a:cxnLst/>
              <a:rect l="l" t="t" r="r" b="b"/>
              <a:pathLst>
                <a:path w="1536064" h="106679">
                  <a:moveTo>
                    <a:pt x="1535976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535976" y="10622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59D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D2061289-5DB2-ED0B-D173-A6D869F1A97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8765" y="3353673"/>
            <a:ext cx="1478915" cy="9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ts val="670"/>
              </a:lnSpc>
            </a:pPr>
            <a:r>
              <a:rPr lang="fr-FR" sz="700" b="1" spc="130" dirty="0" err="1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Israe</a:t>
            </a:r>
            <a:r>
              <a:rPr lang="fr-FR" sz="700" b="1" spc="130" dirty="0">
                <a:latin typeface="Bahnschrift SemiBold Condensed" panose="020B0502040204020203" pitchFamily="34" charset="0"/>
                <a:cs typeface="Times New Roman" panose="02020603050405020304" pitchFamily="18" charset="0"/>
              </a:rPr>
              <a:t> EL GHIZI</a:t>
            </a:r>
            <a:endParaRPr sz="700" b="1" spc="80" dirty="0">
              <a:latin typeface="Bahnschrift SemiBold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BF1823C7-0512-626E-A6DC-36F56149F23A}"/>
              </a:ext>
            </a:extLst>
          </p:cNvPr>
          <p:cNvSpPr txBox="1"/>
          <p:nvPr/>
        </p:nvSpPr>
        <p:spPr>
          <a:xfrm>
            <a:off x="2083485" y="3353673"/>
            <a:ext cx="441325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fr-FR" sz="600" dirty="0">
                <a:solidFill>
                  <a:schemeClr val="bg1"/>
                </a:solidFill>
                <a:latin typeface="Bahnschrift SemiBold" panose="020B0502040204020203" pitchFamily="34" charset="0"/>
                <a:cs typeface="Calibri"/>
              </a:rPr>
              <a:t>Master ID</a:t>
            </a:r>
            <a:endParaRPr sz="600" dirty="0">
              <a:solidFill>
                <a:schemeClr val="bg1"/>
              </a:solidFill>
              <a:latin typeface="Bahnschrift SemiBold" panose="020B0502040204020203" pitchFamily="34" charset="0"/>
              <a:cs typeface="Calibri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A5E5B9B-A581-D6E9-8354-4C536E45D73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415893" y="3353673"/>
            <a:ext cx="58547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lang="en-US" spc="75" dirty="0">
                <a:latin typeface="Bahnschrift SemiBold Condensed" panose="020B0502040204020203" pitchFamily="34" charset="0"/>
              </a:rPr>
              <a:t> 01/07/2024</a:t>
            </a:r>
            <a:endParaRPr spc="60" dirty="0">
              <a:latin typeface="Bahnschrift SemiBold Condensed" panose="020B0502040204020203" pitchFamily="34" charset="0"/>
            </a:endParaRPr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9981C70B-1FE9-3E3C-A9C9-A428522EF852}"/>
              </a:ext>
            </a:extLst>
          </p:cNvPr>
          <p:cNvSpPr/>
          <p:nvPr/>
        </p:nvSpPr>
        <p:spPr>
          <a:xfrm>
            <a:off x="2228850" y="0"/>
            <a:ext cx="2379560" cy="355964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648"/>
                </a:lnTo>
                <a:lnTo>
                  <a:pt x="2303995" y="135648"/>
                </a:lnTo>
                <a:lnTo>
                  <a:pt x="2303995" y="0"/>
                </a:lnTo>
                <a:close/>
              </a:path>
            </a:pathLst>
          </a:custGeom>
          <a:solidFill>
            <a:srgbClr val="1088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AA4EDA9-D620-C0D3-719A-93409C5621A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241362" y="3353673"/>
            <a:ext cx="352425" cy="89768"/>
          </a:xfrm>
        </p:spPr>
        <p:txBody>
          <a:bodyPr/>
          <a:lstStyle/>
          <a:p>
            <a:pPr marL="38100">
              <a:lnSpc>
                <a:spcPts val="670"/>
              </a:lnSpc>
            </a:pPr>
            <a:fld id="{81D60167-4931-47E6-BA6A-407CBD079E47}" type="slidenum">
              <a:rPr lang="en-US" spc="60" smtClean="0"/>
              <a:t>7</a:t>
            </a:fld>
            <a:r>
              <a:rPr lang="en-US" spc="-15" dirty="0"/>
              <a:t> </a:t>
            </a:r>
            <a:r>
              <a:rPr lang="en-US" spc="130" dirty="0"/>
              <a:t>/</a:t>
            </a:r>
            <a:r>
              <a:rPr lang="en-US" spc="-15" dirty="0"/>
              <a:t> </a:t>
            </a:r>
            <a:r>
              <a:rPr lang="en-US" spc="60" dirty="0"/>
              <a:t>33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CC5491CA-90F4-7CF1-846F-76F1A56F0EC7}"/>
              </a:ext>
            </a:extLst>
          </p:cNvPr>
          <p:cNvSpPr txBox="1"/>
          <p:nvPr/>
        </p:nvSpPr>
        <p:spPr>
          <a:xfrm>
            <a:off x="64344" y="-16124"/>
            <a:ext cx="1783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Sitka Display" pitchFamily="2" charset="0"/>
                <a:cs typeface="Times New Roman" panose="02020603050405020304" pitchFamily="18" charset="0"/>
              </a:rPr>
              <a:t>Travail futur cours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D938F52-E03E-0C1C-6A4C-4841B3A23B6C}"/>
              </a:ext>
            </a:extLst>
          </p:cNvPr>
          <p:cNvSpPr txBox="1"/>
          <p:nvPr/>
        </p:nvSpPr>
        <p:spPr>
          <a:xfrm>
            <a:off x="851306" y="-5356225"/>
            <a:ext cx="297774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  <a:defRPr/>
            </a:pPr>
            <a:r>
              <a:rPr lang="fr-FR" sz="1200" b="1" dirty="0">
                <a:latin typeface="+mj-lt"/>
              </a:rPr>
              <a:t>la rareté, la taille limitée et la difficulté d'étiquetage des bases de données sous forme de graphes disponibles en biologie, ainsi que leur complexité, restreignent l'efficacité et la généralisation de ces algorithmes.</a:t>
            </a:r>
          </a:p>
          <a:p>
            <a:pPr lvl="0" algn="just">
              <a:defRPr/>
            </a:pPr>
            <a:r>
              <a:rPr lang="fr-FR" sz="1200" b="1" dirty="0">
                <a:latin typeface="+mj-lt"/>
              </a:rPr>
              <a:t>Pour surmonter ces limitations, l'apprentissage auto-supervisé avec graph neural network se présente comme une solution prometteuse </a:t>
            </a:r>
          </a:p>
          <a:p>
            <a:pPr lvl="0" algn="just">
              <a:defRPr/>
            </a:pPr>
            <a:r>
              <a:rPr lang="fr-FR" altLang="en-US" sz="1200" b="1" dirty="0">
                <a:latin typeface="+mj-lt"/>
              </a:rPr>
              <a:t>Examinons de plus près </a:t>
            </a:r>
            <a:r>
              <a:rPr lang="fr-FR" sz="1200" b="1" dirty="0">
                <a:latin typeface="+mj-lt"/>
              </a:rPr>
              <a:t>les GNN</a:t>
            </a:r>
            <a:r>
              <a:rPr lang="fr-FR" altLang="en-US" sz="1200" b="1" dirty="0">
                <a:latin typeface="+mj-lt"/>
              </a:rPr>
              <a:t> </a:t>
            </a:r>
            <a:r>
              <a:rPr lang="fr-FR" sz="1200" b="1" dirty="0">
                <a:latin typeface="+mj-lt"/>
              </a:rPr>
              <a:t>l'apprentissage auto-supervisé</a:t>
            </a:r>
            <a:endParaRPr lang="fr-FR" altLang="en-US" sz="1200" b="1" dirty="0">
              <a:solidFill>
                <a:srgbClr val="124E6E"/>
              </a:solidFill>
              <a:latin typeface="+mj-lt"/>
              <a:cs typeface="Times New Roman" panose="02020603050405020304" pitchFamily="18" charset="0"/>
            </a:endParaRPr>
          </a:p>
          <a:p>
            <a:endParaRPr lang="fr-FR" sz="1200" dirty="0">
              <a:latin typeface="+mj-lt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12C13F8-E66C-252D-2DC4-F210022BB523}"/>
              </a:ext>
            </a:extLst>
          </p:cNvPr>
          <p:cNvSpPr txBox="1"/>
          <p:nvPr/>
        </p:nvSpPr>
        <p:spPr>
          <a:xfrm>
            <a:off x="157716" y="434015"/>
            <a:ext cx="3690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rgbClr val="FF0000"/>
                </a:solidFill>
              </a:rPr>
              <a:t>Adding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this</a:t>
            </a:r>
            <a:r>
              <a:rPr lang="fr-FR" dirty="0">
                <a:solidFill>
                  <a:srgbClr val="FF0000"/>
                </a:solidFill>
              </a:rPr>
              <a:t> diapo</a:t>
            </a:r>
          </a:p>
        </p:txBody>
      </p:sp>
    </p:spTree>
    <p:extLst>
      <p:ext uri="{BB962C8B-B14F-4D97-AF65-F5344CB8AC3E}">
        <p14:creationId xmlns:p14="http://schemas.microsoft.com/office/powerpoint/2010/main" val="1361193464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6644</TotalTime>
  <Words>567</Words>
  <Application>Microsoft Office PowerPoint</Application>
  <PresentationFormat>Personnalisé</PresentationFormat>
  <Paragraphs>85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6" baseType="lpstr">
      <vt:lpstr>Arial</vt:lpstr>
      <vt:lpstr>Bahnschrift Condensed</vt:lpstr>
      <vt:lpstr>Bahnschrift SemiBold</vt:lpstr>
      <vt:lpstr>Bahnschrift SemiBold Condensed</vt:lpstr>
      <vt:lpstr>Bahnschrift SemiLight SemiConde</vt:lpstr>
      <vt:lpstr>Calibri</vt:lpstr>
      <vt:lpstr>Sitka Display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EL GHIZI ABDALLAH</cp:lastModifiedBy>
  <cp:revision>961</cp:revision>
  <dcterms:created xsi:type="dcterms:W3CDTF">2024-06-21T11:49:16Z</dcterms:created>
  <dcterms:modified xsi:type="dcterms:W3CDTF">2025-11-25T16:10:57Z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2024-06-21T00:00:00Z</vt:filetime>
  </property>
</Properties>
</file>